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24"/>
  </p:notesMasterIdLst>
  <p:sldIdLst>
    <p:sldId id="256" r:id="rId2"/>
    <p:sldId id="695" r:id="rId3"/>
    <p:sldId id="696" r:id="rId4"/>
    <p:sldId id="697" r:id="rId5"/>
    <p:sldId id="718" r:id="rId6"/>
    <p:sldId id="720" r:id="rId7"/>
    <p:sldId id="698" r:id="rId8"/>
    <p:sldId id="716" r:id="rId9"/>
    <p:sldId id="717" r:id="rId10"/>
    <p:sldId id="699" r:id="rId11"/>
    <p:sldId id="700" r:id="rId12"/>
    <p:sldId id="701" r:id="rId13"/>
    <p:sldId id="721" r:id="rId14"/>
    <p:sldId id="702" r:id="rId15"/>
    <p:sldId id="703" r:id="rId16"/>
    <p:sldId id="704" r:id="rId17"/>
    <p:sldId id="715" r:id="rId18"/>
    <p:sldId id="705" r:id="rId19"/>
    <p:sldId id="707" r:id="rId20"/>
    <p:sldId id="708" r:id="rId21"/>
    <p:sldId id="719" r:id="rId22"/>
    <p:sldId id="69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80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18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5CBB4-363C-46B7-8B1C-747F5DE3A6E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49F82-DF14-4FE0-99A4-91658FB80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295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A4F-C6A0-41F6-BD81-5E943080BC41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53545" cy="365125"/>
          </a:xfrm>
        </p:spPr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7899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EFD4-CDDD-4B4C-97AE-E228F73C93AB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6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2982-405C-4299-9AEB-020FDBDB6F6D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81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187450"/>
            <a:ext cx="5060497" cy="46037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187451"/>
            <a:ext cx="5064665" cy="4603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9A011-E87E-4316-A157-1137A4D32B8F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4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143000"/>
            <a:ext cx="5089072" cy="4740275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143000"/>
            <a:ext cx="5089072" cy="47402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9F20E-7355-4BD5-AB72-5BD845750430}" type="datetime1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59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05E01-0E9E-4641-9A8B-BE258A8DCEC0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8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9A2A-8AD1-4466-99B9-30ACAE262BF3}" type="datetime1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7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2734-6B76-473F-A0AA-DD17877404A3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20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04B5-1884-4545-88C4-368D1CD5B000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4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9F68-3A69-4ACE-95BA-EA1AF645966F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5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C349-32C0-4183-BBC5-8577E742CE04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A381-5E7F-42A5-821C-E2F06A6E0EA2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9307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777E2-B207-4C71-9C21-9EE284073FF9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58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FB3E5-69C0-4C72-837E-1D3EBBA0D998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15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E829-F7EA-4C23-9EB2-744DE51421E1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300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4894-5147-44C0-9E34-1828F5A81640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86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346CA-B6BC-40BF-8DC3-DE26CBADD829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06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29308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219201"/>
            <a:ext cx="10353762" cy="4572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68EEBC5-BFE5-4F06-98DF-B5BD499D91E7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67557" y="6333212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FB426BA-EAA6-4133-BCB5-A7FC59542D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63BEB9-BEA6-4A0A-AB56-6E69BE4DE89A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043" y="92237"/>
            <a:ext cx="1815163" cy="850575"/>
          </a:xfrm>
          <a:prstGeom prst="rect">
            <a:avLst/>
          </a:prstGeom>
        </p:spPr>
      </p:pic>
      <p:pic>
        <p:nvPicPr>
          <p:cNvPr id="2050" name="Picture 2" descr="https://media.defense.gov/2004/Apr/05/2001490078/-1/-1/0/05-F-ZZ999-009.jpg">
            <a:extLst>
              <a:ext uri="{FF2B5EF4-FFF2-40B4-BE49-F238E27FC236}">
                <a16:creationId xmlns:a16="http://schemas.microsoft.com/office/drawing/2014/main" id="{5C8F23C7-09B5-4F78-9D76-C329C16EA00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0">
            <a:clrChange>
              <a:clrFrom>
                <a:srgbClr val="050304"/>
              </a:clrFrom>
              <a:clrTo>
                <a:srgbClr val="05030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0" t="5119" r="4141" b="4619"/>
          <a:stretch/>
        </p:blipFill>
        <p:spPr bwMode="auto">
          <a:xfrm>
            <a:off x="122794" y="92236"/>
            <a:ext cx="966645" cy="85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16">
            <a:extLst>
              <a:ext uri="{FF2B5EF4-FFF2-40B4-BE49-F238E27FC236}">
                <a16:creationId xmlns:a16="http://schemas.microsoft.com/office/drawing/2014/main" id="{1393F321-688C-4757-BECD-D0A41AEF18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6628884"/>
            <a:ext cx="1219200" cy="138906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1000" b="1" dirty="0">
                <a:solidFill>
                  <a:srgbClr val="FFFFFF"/>
                </a:solidFill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23784662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  <p:sldLayoutId id="2147483929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mailto:elbert.peak@afit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A8AD-5C94-447E-8DB4-B4B56E3BF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1726" y="1981919"/>
            <a:ext cx="6864263" cy="1828801"/>
          </a:xfrm>
        </p:spPr>
        <p:txBody>
          <a:bodyPr anchor="ctr">
            <a:noAutofit/>
          </a:bodyPr>
          <a:lstStyle/>
          <a:p>
            <a:pPr>
              <a:defRPr/>
            </a:pPr>
            <a:r>
              <a:rPr lang="en-US" sz="4400" b="1" dirty="0">
                <a:solidFill>
                  <a:schemeClr val="tx1">
                    <a:lumMod val="85000"/>
                  </a:schemeClr>
                </a:solidFill>
                <a:effectLst/>
              </a:rPr>
              <a:t>Firmware Analysis</a:t>
            </a:r>
            <a:endParaRPr lang="en-US" sz="4400" dirty="0">
              <a:solidFill>
                <a:schemeClr val="tx1">
                  <a:lumMod val="85000"/>
                </a:schemeClr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4C191-92F3-4673-A283-EC824C467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0454" y="3846112"/>
            <a:ext cx="5342025" cy="1049867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/>
              </a:rPr>
              <a:t>Stephen Dunlap, CISSP</a:t>
            </a:r>
          </a:p>
          <a:p>
            <a:pPr>
              <a:defRPr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stephen.dunlap.ctr@afit.edu</a:t>
            </a:r>
            <a:endParaRPr lang="en-US" b="1" dirty="0">
              <a:solidFill>
                <a:schemeClr val="tx1">
                  <a:lumMod val="85000"/>
                </a:schemeClr>
              </a:solidFill>
              <a:effectLst/>
            </a:endParaRPr>
          </a:p>
          <a:p>
            <a:endParaRPr lang="en-US" b="1" dirty="0">
              <a:solidFill>
                <a:schemeClr val="tx1">
                  <a:lumMod val="85000"/>
                </a:schemeClr>
              </a:solidFill>
              <a:effectLst/>
            </a:endParaRPr>
          </a:p>
        </p:txBody>
      </p:sp>
      <p:pic>
        <p:nvPicPr>
          <p:cNvPr id="4" name="Picture 2" descr="ccr_logo.png">
            <a:extLst>
              <a:ext uri="{FF2B5EF4-FFF2-40B4-BE49-F238E27FC236}">
                <a16:creationId xmlns:a16="http://schemas.microsoft.com/office/drawing/2014/main" id="{FF8935DF-02A9-488A-AD0A-2D7C17C0B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386" y="1569449"/>
            <a:ext cx="3719102" cy="371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55D2BA-BEEF-4D71-898D-45333CC4E2AF}"/>
              </a:ext>
            </a:extLst>
          </p:cNvPr>
          <p:cNvSpPr txBox="1"/>
          <p:nvPr/>
        </p:nvSpPr>
        <p:spPr>
          <a:xfrm>
            <a:off x="4870488" y="5550912"/>
            <a:ext cx="68019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This briefing, presentation, or document is for information only.</a:t>
            </a:r>
          </a:p>
          <a:p>
            <a:pPr algn="ctr"/>
            <a:r>
              <a:rPr lang="en-US" sz="1400" dirty="0"/>
              <a:t>No US Government commitment to sell, loan, lease, co-develop</a:t>
            </a:r>
          </a:p>
          <a:p>
            <a:pPr algn="ctr"/>
            <a:r>
              <a:rPr lang="en-US" sz="1400" dirty="0"/>
              <a:t>or co-product defense articles or provide defense services is implied or intended</a:t>
            </a:r>
          </a:p>
        </p:txBody>
      </p:sp>
    </p:spTree>
    <p:extLst>
      <p:ext uri="{BB962C8B-B14F-4D97-AF65-F5344CB8AC3E}">
        <p14:creationId xmlns:p14="http://schemas.microsoft.com/office/powerpoint/2010/main" val="362088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3795" y="1219200"/>
            <a:ext cx="10353762" cy="5356963"/>
          </a:xfrm>
        </p:spPr>
        <p:txBody>
          <a:bodyPr>
            <a:normAutofit/>
          </a:bodyPr>
          <a:lstStyle/>
          <a:p>
            <a:r>
              <a:rPr lang="en-US" sz="2000" dirty="0"/>
              <a:t>Control and monitor physical components of systems</a:t>
            </a:r>
          </a:p>
          <a:p>
            <a:r>
              <a:rPr lang="en-US" sz="2000" dirty="0"/>
              <a:t>Hardware Layer</a:t>
            </a:r>
          </a:p>
          <a:p>
            <a:pPr lvl="1"/>
            <a:r>
              <a:rPr lang="en-US" sz="2000" dirty="0"/>
              <a:t>Physical components of PLC</a:t>
            </a:r>
          </a:p>
          <a:p>
            <a:r>
              <a:rPr lang="en-US" sz="2000" dirty="0"/>
              <a:t>Firmware Layer</a:t>
            </a:r>
          </a:p>
          <a:p>
            <a:pPr lvl="1"/>
            <a:r>
              <a:rPr lang="en-US" sz="2000" dirty="0"/>
              <a:t>Layer between the program and hardware layers</a:t>
            </a:r>
          </a:p>
          <a:p>
            <a:pPr lvl="1"/>
            <a:r>
              <a:rPr lang="en-US" sz="2000" dirty="0"/>
              <a:t>Handles the communication between layers</a:t>
            </a:r>
          </a:p>
          <a:p>
            <a:pPr lvl="1"/>
            <a:r>
              <a:rPr lang="en-US" sz="2000" dirty="0"/>
              <a:t>Operating System</a:t>
            </a:r>
          </a:p>
          <a:p>
            <a:r>
              <a:rPr lang="en-US" sz="2000" dirty="0"/>
              <a:t>Programming Layer</a:t>
            </a:r>
          </a:p>
          <a:p>
            <a:pPr lvl="1"/>
            <a:r>
              <a:rPr lang="en-US" sz="2000" dirty="0"/>
              <a:t>Extra layer of abstraction</a:t>
            </a:r>
          </a:p>
          <a:p>
            <a:pPr lvl="1"/>
            <a:r>
              <a:rPr lang="en-US" sz="2000" dirty="0"/>
              <a:t>Not always used</a:t>
            </a:r>
          </a:p>
          <a:p>
            <a:pPr lvl="1"/>
            <a:r>
              <a:rPr lang="en-US" sz="2000" dirty="0"/>
              <a:t>Relies on firmware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1E62335-66FD-4AE9-A56B-FE4720D28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132" y="3410794"/>
            <a:ext cx="5023749" cy="3246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8359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E34E8-CAC0-4C1E-8AD1-63908413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C0A62-3294-49EC-B3FE-A554658D4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19201"/>
            <a:ext cx="10353762" cy="541959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Modify firmware and install it on a device</a:t>
            </a:r>
          </a:p>
          <a:p>
            <a:endParaRPr lang="en-US" sz="2400" dirty="0"/>
          </a:p>
          <a:p>
            <a:r>
              <a:rPr lang="en-US" sz="2400" dirty="0"/>
              <a:t>Problem:</a:t>
            </a:r>
          </a:p>
          <a:p>
            <a:pPr lvl="1"/>
            <a:r>
              <a:rPr lang="en-US" sz="2400" dirty="0"/>
              <a:t>Device will only accept vendor firmware</a:t>
            </a:r>
          </a:p>
          <a:p>
            <a:pPr lvl="1"/>
            <a:r>
              <a:rPr lang="en-US" sz="2400" dirty="0"/>
              <a:t>Any modifications cause update to fail</a:t>
            </a:r>
          </a:p>
          <a:p>
            <a:endParaRPr lang="en-US" sz="2400" dirty="0"/>
          </a:p>
          <a:p>
            <a:r>
              <a:rPr lang="en-US" sz="2400" dirty="0"/>
              <a:t>Tips</a:t>
            </a:r>
          </a:p>
          <a:p>
            <a:pPr lvl="1"/>
            <a:r>
              <a:rPr lang="en-US" sz="2400" dirty="0"/>
              <a:t>Be prepared to brick a couple devices</a:t>
            </a:r>
          </a:p>
          <a:p>
            <a:pPr lvl="1"/>
            <a:r>
              <a:rPr lang="en-US" sz="2400" dirty="0"/>
              <a:t>Take good notes as you RE!!</a:t>
            </a:r>
          </a:p>
          <a:p>
            <a:pPr lvl="1"/>
            <a:r>
              <a:rPr lang="en-US" sz="2400" dirty="0"/>
              <a:t>Don’t be intimidated</a:t>
            </a:r>
          </a:p>
          <a:p>
            <a:pPr lvl="1"/>
            <a:r>
              <a:rPr lang="en-US" sz="2400" dirty="0"/>
              <a:t>Do be stubborn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A4AA8-4953-4FF6-8208-666BB912F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17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4A98-4BE0-4A77-9B4C-4922096D1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 ControlLogix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ED62E-6C95-4859-AE19-AC5CEB82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http://epub1.rockwellautomation.com/images/web-proof-large/GL/38259.jpg">
            <a:extLst>
              <a:ext uri="{FF2B5EF4-FFF2-40B4-BE49-F238E27FC236}">
                <a16:creationId xmlns:a16="http://schemas.microsoft.com/office/drawing/2014/main" id="{4894CAD1-CF15-445F-B56B-C0F65619B1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1" t="6909" r="7003" b="10493"/>
          <a:stretch/>
        </p:blipFill>
        <p:spPr bwMode="auto">
          <a:xfrm>
            <a:off x="2235791" y="1285148"/>
            <a:ext cx="7709770" cy="50480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802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4A98-4BE0-4A77-9B4C-4922096D1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 ControlLogix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ED62E-6C95-4859-AE19-AC5CEB82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5</a:t>
            </a:fld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8DCCC95-91A2-486E-8731-6E5A9D71A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436" y="999181"/>
            <a:ext cx="4203127" cy="5699156"/>
          </a:xfrm>
        </p:spPr>
      </p:pic>
    </p:spTree>
    <p:extLst>
      <p:ext uri="{BB962C8B-B14F-4D97-AF65-F5344CB8AC3E}">
        <p14:creationId xmlns:p14="http://schemas.microsoft.com/office/powerpoint/2010/main" val="3352487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4A98-4BE0-4A77-9B4C-4922096D1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CubeSpace</a:t>
            </a:r>
            <a:r>
              <a:rPr lang="en-US" dirty="0"/>
              <a:t> Reaction Wheel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ED62E-6C95-4859-AE19-AC5CEB82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3A5DCD-0611-4540-8D11-4CE265C03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289211" y="873610"/>
            <a:ext cx="5613577" cy="586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44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D1313-25D0-4F47-814B-1E47FD72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 RTAC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D8695E-91D8-4372-BE76-13CD4667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D400F-5597-4396-8349-54A2D5B57E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69" y="1294356"/>
            <a:ext cx="5071165" cy="3803374"/>
          </a:xfrm>
          <a:prstGeom prst="rect">
            <a:avLst/>
          </a:prstGeom>
        </p:spPr>
      </p:pic>
      <p:pic>
        <p:nvPicPr>
          <p:cNvPr id="5" name="Picture 2" descr="SEL-3505/3505-3 Real-Time Automation Controller (RTAC ...">
            <a:extLst>
              <a:ext uri="{FF2B5EF4-FFF2-40B4-BE49-F238E27FC236}">
                <a16:creationId xmlns:a16="http://schemas.microsoft.com/office/drawing/2014/main" id="{9F0AD6B3-662E-4903-99CA-BF3553E346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0" r="10417" b="19768"/>
          <a:stretch/>
        </p:blipFill>
        <p:spPr bwMode="auto">
          <a:xfrm>
            <a:off x="6096000" y="3497893"/>
            <a:ext cx="3996635" cy="2933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034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D9AE-2255-4F8F-AD53-72D7E23AA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 RTAC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CC9B92-2973-4877-BF2A-E2A702F6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B0093-4862-4BEF-B57C-AEB0A6A413E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93" t="9800" r="28998" b="25197"/>
          <a:stretch/>
        </p:blipFill>
        <p:spPr>
          <a:xfrm rot="16200000">
            <a:off x="3300669" y="1090821"/>
            <a:ext cx="5580014" cy="515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051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D9AE-2255-4F8F-AD53-72D7E23AA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 RTAC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CC9B92-2973-4877-BF2A-E2A702F6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12C919-02B7-4051-A694-2B87FD02A6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5" r="20123" b="-6626"/>
          <a:stretch/>
        </p:blipFill>
        <p:spPr>
          <a:xfrm rot="5400000">
            <a:off x="5763772" y="974894"/>
            <a:ext cx="2190313" cy="2259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EAC40A-B85D-4E46-8C56-F2B14862AF5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47" t="35844" r="21728" b="27119"/>
          <a:stretch/>
        </p:blipFill>
        <p:spPr>
          <a:xfrm rot="5400000">
            <a:off x="1879721" y="2573543"/>
            <a:ext cx="3766730" cy="27516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5AB697-A200-461B-810B-361DB7D15437}"/>
              </a:ext>
            </a:extLst>
          </p:cNvPr>
          <p:cNvSpPr txBox="1"/>
          <p:nvPr/>
        </p:nvSpPr>
        <p:spPr>
          <a:xfrm>
            <a:off x="1515187" y="2425883"/>
            <a:ext cx="32733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  <a:p>
            <a:r>
              <a:rPr lang="en-US" sz="2400" dirty="0"/>
              <a:t>?</a:t>
            </a:r>
          </a:p>
          <a:p>
            <a:r>
              <a:rPr lang="en-US" sz="2400" dirty="0"/>
              <a:t>?</a:t>
            </a:r>
          </a:p>
          <a:p>
            <a:r>
              <a:rPr lang="en-US" sz="2400" dirty="0"/>
              <a:t>?</a:t>
            </a:r>
          </a:p>
          <a:p>
            <a:r>
              <a:rPr lang="en-US" sz="2400" dirty="0"/>
              <a:t>?</a:t>
            </a:r>
          </a:p>
          <a:p>
            <a:r>
              <a:rPr lang="en-US" sz="2400" dirty="0"/>
              <a:t>?</a:t>
            </a:r>
          </a:p>
          <a:p>
            <a:r>
              <a:rPr lang="en-US" sz="2400" dirty="0"/>
              <a:t>?</a:t>
            </a:r>
          </a:p>
          <a:p>
            <a:r>
              <a:rPr lang="en-US" sz="2400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61A438-92C8-416E-972C-46B67076F8F1}"/>
              </a:ext>
            </a:extLst>
          </p:cNvPr>
          <p:cNvSpPr txBox="1"/>
          <p:nvPr/>
        </p:nvSpPr>
        <p:spPr>
          <a:xfrm>
            <a:off x="5244428" y="2425883"/>
            <a:ext cx="76655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  <a:p>
            <a:r>
              <a:rPr lang="en-US" sz="2400" dirty="0"/>
              <a:t>?</a:t>
            </a:r>
          </a:p>
          <a:p>
            <a:r>
              <a:rPr lang="en-US" sz="2400" dirty="0"/>
              <a:t>?</a:t>
            </a:r>
          </a:p>
          <a:p>
            <a:r>
              <a:rPr lang="en-US" sz="2400" dirty="0"/>
              <a:t>?</a:t>
            </a:r>
          </a:p>
          <a:p>
            <a:r>
              <a:rPr lang="en-US" sz="2400" dirty="0"/>
              <a:t>?</a:t>
            </a:r>
          </a:p>
          <a:p>
            <a:r>
              <a:rPr lang="en-US" sz="2400" dirty="0"/>
              <a:t>GND</a:t>
            </a:r>
          </a:p>
          <a:p>
            <a:r>
              <a:rPr lang="en-US" sz="2400" dirty="0"/>
              <a:t>?</a:t>
            </a:r>
          </a:p>
          <a:p>
            <a:r>
              <a:rPr lang="en-US" sz="2400" dirty="0"/>
              <a:t>GND</a:t>
            </a:r>
          </a:p>
          <a:p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23A695-69CA-4454-8D01-ED26C6885D59}"/>
              </a:ext>
            </a:extLst>
          </p:cNvPr>
          <p:cNvGrpSpPr/>
          <p:nvPr/>
        </p:nvGrpSpPr>
        <p:grpSpPr>
          <a:xfrm>
            <a:off x="6597981" y="3386098"/>
            <a:ext cx="4146897" cy="3129676"/>
            <a:chOff x="7312207" y="3100387"/>
            <a:chExt cx="4146897" cy="312967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7651D3C-39B4-4AEA-AEFD-930C6A01E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58629" y="3100387"/>
              <a:ext cx="3800475" cy="294322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BBA920-E8A6-42FF-BDD0-6EDB7E6B6ECB}"/>
                </a:ext>
              </a:extLst>
            </p:cNvPr>
            <p:cNvSpPr txBox="1"/>
            <p:nvPr/>
          </p:nvSpPr>
          <p:spPr>
            <a:xfrm>
              <a:off x="7312207" y="5953064"/>
              <a:ext cx="397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http://sun.hasenbraten.de/~frank/docs/mpc824x_JTAG.html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5763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B38B3-F2CA-40E5-9289-9D2B4C386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8D733-1B0A-4D56-B037-DF0F30EE4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Architecture (ARM, MIPS, PowerPC)</a:t>
            </a:r>
          </a:p>
          <a:p>
            <a:endParaRPr lang="en-US" dirty="0"/>
          </a:p>
          <a:p>
            <a:r>
              <a:rPr lang="en-US" dirty="0"/>
              <a:t>Firmware format (compression, encryption, RTOS, FS)</a:t>
            </a:r>
          </a:p>
          <a:p>
            <a:endParaRPr lang="en-US" dirty="0"/>
          </a:p>
          <a:p>
            <a:r>
              <a:rPr lang="en-US" dirty="0"/>
              <a:t>Integrity checks (Checksums, CRCs, hashes, signatures)</a:t>
            </a:r>
          </a:p>
          <a:p>
            <a:endParaRPr lang="en-US" dirty="0"/>
          </a:p>
          <a:p>
            <a:r>
              <a:rPr lang="en-US" dirty="0"/>
              <a:t>Memory map (base address of FW, stack, heap)</a:t>
            </a:r>
          </a:p>
          <a:p>
            <a:endParaRPr lang="en-US" dirty="0"/>
          </a:p>
          <a:p>
            <a:r>
              <a:rPr lang="en-US" dirty="0"/>
              <a:t>Entry point (boot loader, main firmware)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F7075-03E5-4D37-861A-F4020F99D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456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A204-9CBA-49CD-ACA6-DDC13749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Familiarization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DB81-2701-439F-B9B8-292A19203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pictures of the hardware</a:t>
            </a:r>
          </a:p>
          <a:p>
            <a:endParaRPr lang="en-US" dirty="0"/>
          </a:p>
          <a:p>
            <a:r>
              <a:rPr lang="en-US" dirty="0"/>
              <a:t>Use the device the way it was intended</a:t>
            </a:r>
          </a:p>
          <a:p>
            <a:endParaRPr lang="en-US" dirty="0"/>
          </a:p>
          <a:p>
            <a:r>
              <a:rPr lang="en-US" dirty="0"/>
              <a:t>Use Wireshark and </a:t>
            </a:r>
            <a:r>
              <a:rPr lang="en-US" dirty="0" err="1"/>
              <a:t>nmap</a:t>
            </a:r>
            <a:endParaRPr lang="en-US" dirty="0"/>
          </a:p>
          <a:p>
            <a:endParaRPr lang="en-US" dirty="0"/>
          </a:p>
          <a:p>
            <a:r>
              <a:rPr lang="en-US" dirty="0"/>
              <a:t>Look for interesting files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15E96-2D72-48BD-B1F7-DB3B00FDE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6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FDE1A-82AF-483F-A5D0-25350F03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Acquire Firmware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3444B-0FE7-4FFC-BF1F-6FC8D850C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Vendor webpage</a:t>
            </a:r>
          </a:p>
          <a:p>
            <a:r>
              <a:rPr lang="en-US" dirty="0"/>
              <a:t>Customer support</a:t>
            </a:r>
          </a:p>
          <a:p>
            <a:r>
              <a:rPr lang="en-US" dirty="0"/>
              <a:t>Update utility</a:t>
            </a:r>
          </a:p>
          <a:p>
            <a:r>
              <a:rPr lang="en-US" dirty="0"/>
              <a:t>Extract binary image from installer</a:t>
            </a:r>
          </a:p>
          <a:p>
            <a:r>
              <a:rPr lang="en-US" dirty="0"/>
              <a:t>Wireshark</a:t>
            </a:r>
          </a:p>
          <a:p>
            <a:r>
              <a:rPr lang="en-US" dirty="0"/>
              <a:t>Hardware extraction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D5F83-CD93-4CBA-96C3-2E9D0569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8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2863-96CF-40A4-A554-563EB62D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Header Fields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54624-046B-40A1-910F-3127094D01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length</a:t>
            </a:r>
          </a:p>
          <a:p>
            <a:endParaRPr lang="en-US" dirty="0"/>
          </a:p>
          <a:p>
            <a:r>
              <a:rPr lang="en-US" dirty="0"/>
              <a:t>Entry point</a:t>
            </a:r>
          </a:p>
          <a:p>
            <a:endParaRPr lang="en-US" dirty="0"/>
          </a:p>
          <a:p>
            <a:r>
              <a:rPr lang="en-US" dirty="0"/>
              <a:t>Magic numbers</a:t>
            </a:r>
          </a:p>
          <a:p>
            <a:endParaRPr lang="en-US" dirty="0"/>
          </a:p>
          <a:p>
            <a:r>
              <a:rPr lang="en-US" dirty="0"/>
              <a:t>Version info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77D91C-E80A-405C-9FAD-FD98EBAA03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Timestamps</a:t>
            </a:r>
          </a:p>
          <a:p>
            <a:endParaRPr lang="en-US" dirty="0"/>
          </a:p>
          <a:p>
            <a:r>
              <a:rPr lang="en-US" dirty="0"/>
              <a:t>Memory addresses</a:t>
            </a:r>
          </a:p>
          <a:p>
            <a:endParaRPr lang="en-US" dirty="0"/>
          </a:p>
          <a:p>
            <a:r>
              <a:rPr lang="en-US" dirty="0"/>
              <a:t>Checksums/CRCs</a:t>
            </a:r>
          </a:p>
          <a:p>
            <a:endParaRPr lang="en-US" dirty="0"/>
          </a:p>
          <a:p>
            <a:r>
              <a:rPr lang="en-US" dirty="0"/>
              <a:t>Digital signatures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EE2F28-AB44-4A9A-91E2-7D065835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10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48B66-1808-4150-94F0-E0AD9791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Analysis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9367-CBF7-4919-A787-C3A704155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Strings</a:t>
            </a:r>
          </a:p>
          <a:p>
            <a:r>
              <a:rPr lang="en-US" dirty="0"/>
              <a:t>Hex Editor</a:t>
            </a:r>
          </a:p>
          <a:p>
            <a:pPr lvl="0"/>
            <a:r>
              <a:rPr lang="en-US" dirty="0" err="1"/>
              <a:t>Bindiff</a:t>
            </a:r>
            <a:endParaRPr lang="en-US" dirty="0"/>
          </a:p>
          <a:p>
            <a:pPr lvl="0"/>
            <a:r>
              <a:rPr lang="en-US" dirty="0" err="1"/>
              <a:t>Binwalk</a:t>
            </a:r>
            <a:endParaRPr lang="en-US" dirty="0"/>
          </a:p>
          <a:p>
            <a:pPr lvl="0"/>
            <a:r>
              <a:rPr lang="en-US" dirty="0"/>
              <a:t>Visualization</a:t>
            </a:r>
          </a:p>
          <a:p>
            <a:pPr lvl="0"/>
            <a:r>
              <a:rPr lang="en-US" dirty="0"/>
              <a:t>Disassemblers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CE32-1419-4107-99A0-3E685733B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5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B517-0ED5-4F79-9221-636C1681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Analysis Tools -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47CF-EB52-4FD9-9C49-47623917DC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Human-readable clues</a:t>
            </a:r>
          </a:p>
          <a:p>
            <a:r>
              <a:rPr lang="en-US" sz="2800" dirty="0"/>
              <a:t>Things to look for:</a:t>
            </a:r>
          </a:p>
          <a:p>
            <a:pPr lvl="1"/>
            <a:r>
              <a:rPr lang="en-US" dirty="0"/>
              <a:t>Copyrights</a:t>
            </a:r>
          </a:p>
          <a:p>
            <a:pPr lvl="1"/>
            <a:r>
              <a:rPr lang="en-US" dirty="0"/>
              <a:t>Filenames</a:t>
            </a:r>
          </a:p>
          <a:p>
            <a:pPr lvl="1"/>
            <a:r>
              <a:rPr lang="en-US" dirty="0"/>
              <a:t>Debug Messages</a:t>
            </a:r>
          </a:p>
          <a:p>
            <a:pPr lvl="1"/>
            <a:r>
              <a:rPr lang="en-US" dirty="0"/>
              <a:t>Compiler info</a:t>
            </a:r>
          </a:p>
          <a:p>
            <a:pPr lvl="1"/>
            <a:r>
              <a:rPr lang="en-US" dirty="0"/>
              <a:t>Passwords</a:t>
            </a:r>
          </a:p>
          <a:p>
            <a:pPr lvl="1"/>
            <a:r>
              <a:rPr lang="en-US" dirty="0"/>
              <a:t>Keys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E55178-6EE2-4268-9189-62C1189B7B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dirty="0"/>
              <a:t>$ strings </a:t>
            </a:r>
            <a:r>
              <a:rPr lang="en-US" dirty="0" err="1"/>
              <a:t>firmware.bin</a:t>
            </a:r>
            <a:r>
              <a:rPr lang="en-US" dirty="0"/>
              <a:t> | less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47CA8-9671-4AB1-B299-7D7C3B80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70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9B314-B74E-446E-8D3F-995A3FD5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Binary Analysis Tools - Hex Dump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8DB03-4383-4272-8838-4B8FD965D6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What’s in the file?</a:t>
            </a:r>
          </a:p>
          <a:p>
            <a:r>
              <a:rPr lang="en-US" sz="2800" dirty="0"/>
              <a:t>Things to look for:</a:t>
            </a:r>
          </a:p>
          <a:p>
            <a:pPr lvl="1"/>
            <a:r>
              <a:rPr lang="en-US" dirty="0"/>
              <a:t>Headers/Footers</a:t>
            </a:r>
          </a:p>
          <a:p>
            <a:pPr lvl="1"/>
            <a:r>
              <a:rPr lang="en-US" dirty="0"/>
              <a:t>Patterns</a:t>
            </a:r>
          </a:p>
          <a:p>
            <a:pPr lvl="1"/>
            <a:r>
              <a:rPr lang="en-US" dirty="0"/>
              <a:t>Opcodes</a:t>
            </a:r>
          </a:p>
          <a:p>
            <a:pPr lvl="1"/>
            <a:r>
              <a:rPr lang="en-US" dirty="0"/>
              <a:t>Container format</a:t>
            </a:r>
          </a:p>
          <a:p>
            <a:pPr lvl="1"/>
            <a:r>
              <a:rPr lang="en-US" dirty="0"/>
              <a:t>Endianness</a:t>
            </a:r>
          </a:p>
          <a:p>
            <a:pPr lvl="1"/>
            <a:r>
              <a:rPr lang="en-US" dirty="0"/>
              <a:t>String tables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35CA66-A6E6-48CA-81AE-FE392B1F9C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dirty="0"/>
              <a:t>$ </a:t>
            </a:r>
            <a:r>
              <a:rPr lang="en-US" dirty="0" err="1"/>
              <a:t>hd</a:t>
            </a:r>
            <a:r>
              <a:rPr lang="en-US" dirty="0"/>
              <a:t> </a:t>
            </a:r>
            <a:r>
              <a:rPr lang="en-US" dirty="0" err="1"/>
              <a:t>firmware.bin</a:t>
            </a:r>
            <a:r>
              <a:rPr lang="en-US" dirty="0"/>
              <a:t> | less</a:t>
            </a:r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dirty="0"/>
              <a:t>$ bless </a:t>
            </a:r>
            <a:r>
              <a:rPr lang="en-US" dirty="0" err="1"/>
              <a:t>firmware.bin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53347-1F35-4C2C-A295-73784E09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385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18E44-1473-46A2-8BF6-AA0E6213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Analysis Tools - </a:t>
            </a:r>
            <a:r>
              <a:rPr lang="en-US" dirty="0" err="1"/>
              <a:t>vbindiff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CB9BE-FAC0-4B7A-9AD2-3AE4BF45C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1187450"/>
            <a:ext cx="5060497" cy="5219613"/>
          </a:xfrm>
        </p:spPr>
        <p:txBody>
          <a:bodyPr>
            <a:normAutofit/>
          </a:bodyPr>
          <a:lstStyle/>
          <a:p>
            <a:r>
              <a:rPr lang="en-US" sz="2800" dirty="0"/>
              <a:t>Changes between versions</a:t>
            </a:r>
          </a:p>
          <a:p>
            <a:r>
              <a:rPr lang="en-US" sz="2800" dirty="0"/>
              <a:t>Compare minor versions</a:t>
            </a:r>
          </a:p>
          <a:p>
            <a:pPr lvl="1"/>
            <a:r>
              <a:rPr lang="en-US" dirty="0"/>
              <a:t>Checksums</a:t>
            </a:r>
          </a:p>
          <a:p>
            <a:pPr lvl="1"/>
            <a:r>
              <a:rPr lang="en-US" dirty="0"/>
              <a:t>Length fields</a:t>
            </a:r>
          </a:p>
          <a:p>
            <a:pPr lvl="1"/>
            <a:r>
              <a:rPr lang="en-US" dirty="0"/>
              <a:t>Headers</a:t>
            </a:r>
          </a:p>
          <a:p>
            <a:pPr lvl="1"/>
            <a:r>
              <a:rPr lang="en-US" dirty="0"/>
              <a:t>Version number/string</a:t>
            </a:r>
          </a:p>
          <a:p>
            <a:r>
              <a:rPr lang="en-US" sz="2800" dirty="0"/>
              <a:t>Compare major versions</a:t>
            </a:r>
          </a:p>
          <a:p>
            <a:pPr lvl="1"/>
            <a:r>
              <a:rPr lang="en-US" dirty="0"/>
              <a:t>Common fields</a:t>
            </a:r>
          </a:p>
          <a:p>
            <a:pPr lvl="1"/>
            <a:r>
              <a:rPr lang="en-US" dirty="0"/>
              <a:t>Length fields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29C5235-D7C4-4196-9BAB-78479DF98E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n-US" dirty="0"/>
              <a:t>$ </a:t>
            </a:r>
            <a:r>
              <a:rPr lang="en-US" dirty="0" err="1"/>
              <a:t>vbindiff</a:t>
            </a:r>
            <a:r>
              <a:rPr lang="en-US" dirty="0"/>
              <a:t> fw1.bin fw2.bin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2DD4D-ADE4-49E7-83FF-F0FCD6917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65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0B551-6EF0-4F30-9AD8-68E150098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Analysis Tools - </a:t>
            </a:r>
            <a:r>
              <a:rPr lang="en-US" dirty="0" err="1"/>
              <a:t>Binwalk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67A1A-4EE4-4289-BE0C-31BD4CD01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1187450"/>
            <a:ext cx="5060497" cy="5257189"/>
          </a:xfrm>
        </p:spPr>
        <p:txBody>
          <a:bodyPr>
            <a:normAutofit/>
          </a:bodyPr>
          <a:lstStyle/>
          <a:p>
            <a:r>
              <a:rPr lang="en-US" dirty="0"/>
              <a:t>Known data structures/formats</a:t>
            </a:r>
          </a:p>
          <a:p>
            <a:r>
              <a:rPr lang="en-US" dirty="0"/>
              <a:t>Things to look for:</a:t>
            </a:r>
          </a:p>
          <a:p>
            <a:pPr lvl="1"/>
            <a:r>
              <a:rPr lang="en-US" dirty="0"/>
              <a:t>File headers</a:t>
            </a:r>
          </a:p>
          <a:p>
            <a:pPr lvl="1"/>
            <a:r>
              <a:rPr lang="en-US" dirty="0"/>
              <a:t>File systems</a:t>
            </a:r>
          </a:p>
          <a:p>
            <a:pPr lvl="1"/>
            <a:r>
              <a:rPr lang="en-US" dirty="0"/>
              <a:t>Compressed data</a:t>
            </a:r>
          </a:p>
          <a:p>
            <a:pPr lvl="1"/>
            <a:r>
              <a:rPr lang="en-US" dirty="0"/>
              <a:t>Images</a:t>
            </a:r>
          </a:p>
          <a:p>
            <a:pPr lvl="1"/>
            <a:r>
              <a:rPr lang="en-US" dirty="0"/>
              <a:t>Opcodes 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-A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Encryption keys/certs</a:t>
            </a:r>
          </a:p>
          <a:p>
            <a:r>
              <a:rPr lang="en-US" dirty="0"/>
              <a:t>Beware of false positives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BF0DF5-25C3-46E4-906A-DEB9B44B1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2892" y="1187451"/>
            <a:ext cx="5064665" cy="5257190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dirty="0"/>
              <a:t># Search for signatures</a:t>
            </a:r>
          </a:p>
          <a:p>
            <a:pPr marL="36900" indent="0">
              <a:buNone/>
            </a:pPr>
            <a:r>
              <a:rPr lang="en-US" dirty="0"/>
              <a:t>$ </a:t>
            </a:r>
            <a:r>
              <a:rPr lang="en-US" dirty="0" err="1"/>
              <a:t>binwalk</a:t>
            </a:r>
            <a:r>
              <a:rPr lang="en-US" dirty="0"/>
              <a:t> </a:t>
            </a:r>
            <a:r>
              <a:rPr lang="en-US" dirty="0" err="1"/>
              <a:t>firmware.bin</a:t>
            </a:r>
            <a:endParaRPr lang="en-US" dirty="0"/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dirty="0"/>
              <a:t># Extract nested files</a:t>
            </a:r>
          </a:p>
          <a:p>
            <a:pPr marL="36900" indent="0">
              <a:buNone/>
            </a:pPr>
            <a:r>
              <a:rPr lang="en-US" dirty="0"/>
              <a:t>$ </a:t>
            </a:r>
            <a:r>
              <a:rPr lang="en-US" dirty="0" err="1"/>
              <a:t>binwalk</a:t>
            </a:r>
            <a:r>
              <a:rPr lang="en-US" dirty="0"/>
              <a:t> –e </a:t>
            </a:r>
            <a:r>
              <a:rPr lang="en-US" dirty="0" err="1"/>
              <a:t>firmware.bin</a:t>
            </a:r>
            <a:endParaRPr lang="en-US" dirty="0"/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dirty="0"/>
              <a:t># Graph entropy</a:t>
            </a:r>
          </a:p>
          <a:p>
            <a:pPr marL="36900" indent="0">
              <a:buNone/>
            </a:pPr>
            <a:r>
              <a:rPr lang="en-US" dirty="0"/>
              <a:t>$ </a:t>
            </a:r>
            <a:r>
              <a:rPr lang="en-US" dirty="0" err="1"/>
              <a:t>binwalk</a:t>
            </a:r>
            <a:r>
              <a:rPr lang="en-US" dirty="0"/>
              <a:t> –E </a:t>
            </a:r>
            <a:r>
              <a:rPr lang="en-US" dirty="0" err="1"/>
              <a:t>firmware.bin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FB005-EF10-48CC-AEB8-DF13214D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99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328FE-70C6-49F6-8159-A26677EF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BBC19-F586-4E5D-BF91-55D4DF0FA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binwalk</a:t>
            </a:r>
            <a:r>
              <a:rPr lang="en-US" dirty="0"/>
              <a:t> –E </a:t>
            </a:r>
            <a:r>
              <a:rPr lang="en-US" dirty="0" err="1"/>
              <a:t>toyota_sd.bin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5FFA8-3F92-4077-80D7-2965AE871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B7595-BFAF-42CD-BD7D-45ABF23CD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217" y="1873163"/>
            <a:ext cx="9257565" cy="464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91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5AFB-72D1-4BF3-9568-F61906A1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325C1-60EB-479D-92F8-2601C7A26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0E863-C38C-463D-843C-CF1627E28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722" y="914153"/>
            <a:ext cx="7331908" cy="550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39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BC67-4A14-4D62-8890-C63DA4964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Disassemblers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6916BE-A727-41FA-AE09-3EF0EC58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426BA-EAA6-4133-BCB5-A7FC59542D77}" type="slidenum">
              <a:rPr lang="en-US" smtClean="0"/>
              <a:t>21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F1BBEB-DBE5-43CB-8029-836CAA333EF0}"/>
              </a:ext>
            </a:extLst>
          </p:cNvPr>
          <p:cNvSpPr/>
          <p:nvPr/>
        </p:nvSpPr>
        <p:spPr bwMode="auto">
          <a:xfrm>
            <a:off x="5404876" y="2139527"/>
            <a:ext cx="1371600" cy="1017972"/>
          </a:xfrm>
          <a:prstGeom prst="rect">
            <a:avLst/>
          </a:prstGeom>
          <a:solidFill>
            <a:schemeClr val="accent4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Assembly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605974-2AF6-4553-942F-1B89701422A5}"/>
              </a:ext>
            </a:extLst>
          </p:cNvPr>
          <p:cNvSpPr/>
          <p:nvPr/>
        </p:nvSpPr>
        <p:spPr bwMode="auto">
          <a:xfrm>
            <a:off x="2565602" y="2139527"/>
            <a:ext cx="1371600" cy="1017972"/>
          </a:xfrm>
          <a:prstGeom prst="rect">
            <a:avLst/>
          </a:prstGeom>
          <a:solidFill>
            <a:schemeClr val="accent4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C++</a:t>
            </a:r>
          </a:p>
        </p:txBody>
      </p:sp>
      <p:cxnSp>
        <p:nvCxnSpPr>
          <p:cNvPr id="7" name="Elbow Connector 44">
            <a:extLst>
              <a:ext uri="{FF2B5EF4-FFF2-40B4-BE49-F238E27FC236}">
                <a16:creationId xmlns:a16="http://schemas.microsoft.com/office/drawing/2014/main" id="{6B16DD5A-0D32-49E8-A00B-CF3D566169B4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 bwMode="auto">
          <a:xfrm flipH="1">
            <a:off x="3937202" y="2648513"/>
            <a:ext cx="1467674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3CC6FE1-B9D3-40D1-85C4-EBE5245241A3}"/>
              </a:ext>
            </a:extLst>
          </p:cNvPr>
          <p:cNvSpPr/>
          <p:nvPr/>
        </p:nvSpPr>
        <p:spPr bwMode="auto">
          <a:xfrm>
            <a:off x="8244150" y="2139527"/>
            <a:ext cx="1371600" cy="1017972"/>
          </a:xfrm>
          <a:prstGeom prst="rect">
            <a:avLst/>
          </a:prstGeom>
          <a:solidFill>
            <a:schemeClr val="accent4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Machine Code (binary)</a:t>
            </a:r>
          </a:p>
        </p:txBody>
      </p:sp>
      <p:cxnSp>
        <p:nvCxnSpPr>
          <p:cNvPr id="11" name="Elbow Connector 44">
            <a:extLst>
              <a:ext uri="{FF2B5EF4-FFF2-40B4-BE49-F238E27FC236}">
                <a16:creationId xmlns:a16="http://schemas.microsoft.com/office/drawing/2014/main" id="{2014946C-B3C9-4EA1-88CA-713CEB00CE05}"/>
              </a:ext>
            </a:extLst>
          </p:cNvPr>
          <p:cNvCxnSpPr>
            <a:cxnSpLocks/>
            <a:stCxn id="10" idx="1"/>
            <a:endCxn id="4" idx="3"/>
          </p:cNvCxnSpPr>
          <p:nvPr/>
        </p:nvCxnSpPr>
        <p:spPr bwMode="auto">
          <a:xfrm flipH="1">
            <a:off x="6776476" y="2648513"/>
            <a:ext cx="1467674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D8284A8-91CD-4802-AB12-7C12F929BAB1}"/>
              </a:ext>
            </a:extLst>
          </p:cNvPr>
          <p:cNvSpPr/>
          <p:nvPr/>
        </p:nvSpPr>
        <p:spPr bwMode="auto">
          <a:xfrm>
            <a:off x="5404876" y="4419492"/>
            <a:ext cx="1371600" cy="1017972"/>
          </a:xfrm>
          <a:prstGeom prst="rect">
            <a:avLst/>
          </a:prstGeom>
          <a:solidFill>
            <a:schemeClr val="accent4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Assembly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4201D5-C021-46A2-9E6D-282FB5999C6D}"/>
              </a:ext>
            </a:extLst>
          </p:cNvPr>
          <p:cNvSpPr/>
          <p:nvPr/>
        </p:nvSpPr>
        <p:spPr bwMode="auto">
          <a:xfrm>
            <a:off x="2565602" y="4419492"/>
            <a:ext cx="1371600" cy="1017972"/>
          </a:xfrm>
          <a:prstGeom prst="rect">
            <a:avLst/>
          </a:prstGeom>
          <a:solidFill>
            <a:schemeClr val="accent4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C++</a:t>
            </a:r>
          </a:p>
        </p:txBody>
      </p:sp>
      <p:cxnSp>
        <p:nvCxnSpPr>
          <p:cNvPr id="16" name="Elbow Connector 44">
            <a:extLst>
              <a:ext uri="{FF2B5EF4-FFF2-40B4-BE49-F238E27FC236}">
                <a16:creationId xmlns:a16="http://schemas.microsoft.com/office/drawing/2014/main" id="{6F74E606-2C59-43DF-8444-4EB6D2E51F72}"/>
              </a:ext>
            </a:extLst>
          </p:cNvPr>
          <p:cNvCxnSpPr>
            <a:cxnSpLocks/>
            <a:stCxn id="15" idx="3"/>
            <a:endCxn id="14" idx="1"/>
          </p:cNvCxnSpPr>
          <p:nvPr/>
        </p:nvCxnSpPr>
        <p:spPr bwMode="auto">
          <a:xfrm>
            <a:off x="3937202" y="4928478"/>
            <a:ext cx="1467674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0B050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F7F0DC0-4C36-4FF6-8C44-BC9D1B282686}"/>
              </a:ext>
            </a:extLst>
          </p:cNvPr>
          <p:cNvSpPr/>
          <p:nvPr/>
        </p:nvSpPr>
        <p:spPr bwMode="auto">
          <a:xfrm>
            <a:off x="8244150" y="4419492"/>
            <a:ext cx="1371600" cy="1017972"/>
          </a:xfrm>
          <a:prstGeom prst="rect">
            <a:avLst/>
          </a:prstGeom>
          <a:solidFill>
            <a:schemeClr val="accent4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Machine Code (binary)</a:t>
            </a:r>
          </a:p>
        </p:txBody>
      </p:sp>
      <p:cxnSp>
        <p:nvCxnSpPr>
          <p:cNvPr id="18" name="Elbow Connector 44">
            <a:extLst>
              <a:ext uri="{FF2B5EF4-FFF2-40B4-BE49-F238E27FC236}">
                <a16:creationId xmlns:a16="http://schemas.microsoft.com/office/drawing/2014/main" id="{1A73612D-CA18-4351-8DB7-6AD0D928E6EA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 bwMode="auto">
          <a:xfrm>
            <a:off x="6776476" y="4928478"/>
            <a:ext cx="1467674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0B050"/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16BA367-6F87-47DA-B1F2-AEF4735E85EB}"/>
              </a:ext>
            </a:extLst>
          </p:cNvPr>
          <p:cNvSpPr txBox="1"/>
          <p:nvPr/>
        </p:nvSpPr>
        <p:spPr>
          <a:xfrm>
            <a:off x="6757543" y="3984799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Disassemble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9C5F8C-87FE-4F16-838E-9D93E2013AF2}"/>
              </a:ext>
            </a:extLst>
          </p:cNvPr>
          <p:cNvSpPr txBox="1"/>
          <p:nvPr/>
        </p:nvSpPr>
        <p:spPr>
          <a:xfrm>
            <a:off x="4033685" y="3984799"/>
            <a:ext cx="1274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Decompile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568A6A-2141-493F-ABC6-72195507FD05}"/>
              </a:ext>
            </a:extLst>
          </p:cNvPr>
          <p:cNvSpPr txBox="1"/>
          <p:nvPr/>
        </p:nvSpPr>
        <p:spPr>
          <a:xfrm>
            <a:off x="6911433" y="1700368"/>
            <a:ext cx="119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Assemble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EEEA21-778A-4818-B783-6131AD828DAA}"/>
              </a:ext>
            </a:extLst>
          </p:cNvPr>
          <p:cNvSpPr txBox="1"/>
          <p:nvPr/>
        </p:nvSpPr>
        <p:spPr>
          <a:xfrm>
            <a:off x="4059031" y="1704834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Compile</a:t>
            </a:r>
          </a:p>
        </p:txBody>
      </p:sp>
    </p:spTree>
    <p:extLst>
      <p:ext uri="{BB962C8B-B14F-4D97-AF65-F5344CB8AC3E}">
        <p14:creationId xmlns:p14="http://schemas.microsoft.com/office/powerpoint/2010/main" val="1305117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1367529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3728</TotalTime>
  <Words>524</Words>
  <Application>Microsoft Office PowerPoint</Application>
  <PresentationFormat>Widescreen</PresentationFormat>
  <Paragraphs>185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Courier New</vt:lpstr>
      <vt:lpstr>Trebuchet MS</vt:lpstr>
      <vt:lpstr>Wingdings 2</vt:lpstr>
      <vt:lpstr>Slate</vt:lpstr>
      <vt:lpstr>Firmware Analysis</vt:lpstr>
      <vt:lpstr>Controllers</vt:lpstr>
      <vt:lpstr>Goal</vt:lpstr>
      <vt:lpstr>AB ControlLogix</vt:lpstr>
      <vt:lpstr>AB ControlLogix</vt:lpstr>
      <vt:lpstr>CubeSpace Reaction Wheel</vt:lpstr>
      <vt:lpstr>SEL RTAC</vt:lpstr>
      <vt:lpstr>SEL RTAC</vt:lpstr>
      <vt:lpstr>SEL RTAC</vt:lpstr>
      <vt:lpstr>Necessary Information</vt:lpstr>
      <vt:lpstr>Step 1: Familiarization</vt:lpstr>
      <vt:lpstr>Step 2: Acquire Firmware</vt:lpstr>
      <vt:lpstr>Common Header Fields</vt:lpstr>
      <vt:lpstr>Binary Analysis Tools</vt:lpstr>
      <vt:lpstr>Binary Analysis Tools - strings</vt:lpstr>
      <vt:lpstr>Binary Analysis Tools - Hex Dump</vt:lpstr>
      <vt:lpstr>Binary Analysis Tools - vbindiff</vt:lpstr>
      <vt:lpstr>Binary Analysis Tools - Binwalk</vt:lpstr>
      <vt:lpstr>Entropy Graphs</vt:lpstr>
      <vt:lpstr>Visualization</vt:lpstr>
      <vt:lpstr>Disassemblers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CSCE-660</dc:title>
  <dc:creator>Dunlap, Stephen Ctr USAF AETC AFIT/ENG</dc:creator>
  <cp:lastModifiedBy>Stephen Dunlap</cp:lastModifiedBy>
  <cp:revision>59</cp:revision>
  <dcterms:created xsi:type="dcterms:W3CDTF">2022-05-06T12:30:37Z</dcterms:created>
  <dcterms:modified xsi:type="dcterms:W3CDTF">2026-07-20T11:33:45Z</dcterms:modified>
</cp:coreProperties>
</file>